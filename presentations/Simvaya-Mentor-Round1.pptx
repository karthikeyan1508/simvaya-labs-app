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opening slide of the Round 1 mentor deck for Simvaya. The quote states the core problem: students learn by watching rather than doing. Let it land before moving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typical lab session: one rig, one student on the equipment, and the rest waiting. The bottom line describes what students are left with instead of hands-on practice. Pause here, because most mentors will recognise this from their own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arrive at the lab without the context they need to learn from it. Faculty then repeat the same explanations for every batch. The gap is in preparation, not in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Simvaya is an interactive digital twin of the lab manual, so the rig, procedure and calculations can all be explored. The six points describe what a student can do in the product. Link each one back to a gap from the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live demo. The headline shows the shift from identifying parts to understanding readings. Run the demo in the order listed, from opening the lab to attempting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Simvaya is compared with the usual alternatives: reading theory, watching demos, copying observations, memorising for viva and a single lab session. The point is interaction, not presentation. Invite questions on how the comparison fits their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39 lakh is the current undergraduate base and 6.48 crore is the future school science market. Source to be confirmed before presenting: both statistics on this slide need a cited source. The initial focus is mechanical and electrical engineering labs, with colleges, departments, private schools and STEM partners as buyers.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Simvaya is sold to institutions, not to individual students. The first step is paid department pilots, followed by annual college lab licenses and custom digital twins. The Class 9–12 platform for private schools is a later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pilot colleges and faculty partners, lab-equipment and edtech partners, mentors to help validate curriculum, procurement and go-to-market, and early capital. Close with the final line, which says Simvaya supports the physical lab rather than replacing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91640"/>
            <a:ext cx="7680960" cy="1143000"/>
          </a:xfrm>
          <a:prstGeom prst="rect">
            <a:avLst/>
          </a:prstGeom>
          <a:noFill/>
          <a:ln/>
        </p:spPr>
        <p:txBody>
          <a:bodyPr wrap="square" rtlCol="0"/>
          <a:lstStyle>
            <a:lvl1pPr algn="l" indent="0" marL="0">
              <a:buNone/>
              <a:defRPr lang="en-US" sz="6600" b="1" dirty="0">
                <a:solidFill>
                  <a:srgbClr val="18181B"/>
                </a:solidFill>
                <a:latin typeface="Archivo" pitchFamily="34" charset="0"/>
                <a:ea typeface="Archivo" pitchFamily="34" charset="-122"/>
                <a:cs typeface="Archivo" pitchFamily="34" charset="-120"/>
              </a:defRPr>
            </a:lvl1pPr>
          </a:lstStyle>
          <a:p>
            <a:pPr algn="l" indent="0" marL="0">
              <a:buNone/>
            </a:pPr>
            <a:endParaRPr lang="en-US" sz="6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8046720" cy="960120"/>
          </a:xfrm>
          <a:prstGeom prst="rect">
            <a:avLst/>
          </a:prstGeom>
          <a:noFill/>
          <a:ln/>
        </p:spPr>
        <p:txBody>
          <a:bodyPr wrap="square" rtlCol="0"/>
          <a:lstStyle>
            <a:lvl1pPr algn="l" indent="0" marL="0">
              <a:buNone/>
              <a:defRPr lang="en-US" sz="2800" b="1" dirty="0">
                <a:solidFill>
                  <a:srgbClr val="18181B"/>
                </a:solidFill>
                <a:latin typeface="Archivo" pitchFamily="34" charset="0"/>
                <a:ea typeface="Archivo" pitchFamily="34" charset="-122"/>
                <a:cs typeface="Archivo"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This PC\AppData\Local\Temp\claude\D--simvaya\643cd93a-12cb-4cf0-bf47-49e6c5ab18c5\scratchpad\deck\logo.png">    </p:cNvPr>
          <p:cNvPicPr>
            <a:picLocks noChangeAspect="1"/>
          </p:cNvPicPr>
          <p:nvPr/>
        </p:nvPicPr>
        <p:blipFill>
          <a:blip r:embed="rId1"/>
          <a:stretch>
            <a:fillRect/>
          </a:stretch>
        </p:blipFill>
        <p:spPr>
          <a:xfrm>
            <a:off x="731520" y="777240"/>
            <a:ext cx="777240" cy="777240"/>
          </a:xfrm>
          <a:prstGeom prst="rect">
            <a:avLst/>
          </a:prstGeom>
        </p:spPr>
      </p:pic>
      <p:sp>
        <p:nvSpPr>
          <p:cNvPr id="3" name="Text 0"/>
          <p:cNvSpPr/>
          <p:nvPr>
            <p:ph idx="100" type="title" hasCustomPrompt="1"/>
          </p:nvPr>
        </p:nvSpPr>
        <p:spPr>
          <a:xfrm>
            <a:off x="731520" y="1691640"/>
            <a:ext cx="7680960" cy="1143000"/>
          </a:xfrm>
          <a:prstGeom prst="rect">
            <a:avLst/>
          </a:prstGeom>
          <a:noFill/>
          <a:ln/>
        </p:spPr>
        <p:txBody>
          <a:bodyPr wrap="square" lIns="0" tIns="0" rIns="0" bIns="0" rtlCol="0" anchor="b"/>
          <a:lstStyle/>
          <a:p>
            <a:pPr algn="l" indent="0" marL="0">
              <a:buNone/>
            </a:pPr>
            <a:r>
              <a:rPr lang="en-US" sz="6600" b="1" dirty="0">
                <a:solidFill>
                  <a:srgbClr val="18181B"/>
                </a:solidFill>
                <a:latin typeface="Archivo" pitchFamily="34" charset="0"/>
                <a:ea typeface="Archivo" pitchFamily="34" charset="-122"/>
                <a:cs typeface="Archivo" pitchFamily="34" charset="-120"/>
              </a:rPr>
              <a:t>Simvaya</a:t>
            </a:r>
            <a:endParaRPr lang="en-US" sz="6600" dirty="0"/>
          </a:p>
        </p:txBody>
      </p:sp>
      <p:sp>
        <p:nvSpPr>
          <p:cNvPr id="4" name="Text 1"/>
          <p:cNvSpPr txBox="1"/>
          <p:nvPr/>
        </p:nvSpPr>
        <p:spPr>
          <a:xfrm>
            <a:off x="731520" y="2971800"/>
            <a:ext cx="7680960" cy="457200"/>
          </a:xfrm>
          <a:prstGeom prst="rect">
            <a:avLst/>
          </a:prstGeom>
          <a:noFill/>
          <a:ln/>
        </p:spPr>
        <p:txBody>
          <a:bodyPr wrap="square" lIns="0" tIns="0" rIns="0" bIns="0" rtlCol="0" anchor="ctr"/>
          <a:lstStyle/>
          <a:p>
            <a:pPr indent="0" marL="0">
              <a:buNone/>
            </a:pPr>
            <a:r>
              <a:rPr lang="en-US" sz="2400" dirty="0">
                <a:solidFill>
                  <a:srgbClr val="52525B"/>
                </a:solidFill>
                <a:latin typeface="Archivo" pitchFamily="34" charset="0"/>
                <a:ea typeface="Archivo" pitchFamily="34" charset="-122"/>
                <a:cs typeface="Archivo" pitchFamily="34" charset="-120"/>
              </a:rPr>
              <a:t>The lab, in every browser.</a:t>
            </a:r>
            <a:endParaRPr lang="en-US" sz="2400" dirty="0"/>
          </a:p>
        </p:txBody>
      </p:sp>
      <p:sp>
        <p:nvSpPr>
          <p:cNvPr id="5" name="Text 2"/>
          <p:cNvSpPr txBox="1"/>
          <p:nvPr/>
        </p:nvSpPr>
        <p:spPr>
          <a:xfrm>
            <a:off x="731520" y="3840480"/>
            <a:ext cx="7680960" cy="777240"/>
          </a:xfrm>
          <a:prstGeom prst="roundRect">
            <a:avLst>
              <a:gd name="adj" fmla="val 11765"/>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01600" rIns="228600" bIns="101600" rtlCol="0" anchor="ctr"/>
          <a:lstStyle/>
          <a:p>
            <a:pPr algn="l" indent="0" marL="0">
              <a:buNone/>
            </a:pPr>
            <a:r>
              <a:rPr lang="en-US" sz="1600" i="1" dirty="0">
                <a:solidFill>
                  <a:srgbClr val="52525B"/>
                </a:solidFill>
                <a:latin typeface="Archivo" pitchFamily="34" charset="0"/>
                <a:ea typeface="Archivo" pitchFamily="34" charset="-122"/>
                <a:cs typeface="Archivo" pitchFamily="34" charset="-120"/>
              </a:rPr>
              <a:t>“Because ‘watch your senior do it once’ is not lab training.”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PROBLEM</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The average engineering lab experience:</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2011680"/>
            <a:ext cx="5212080" cy="457200"/>
          </a:xfrm>
          <a:prstGeom prst="roundRect">
            <a:avLst>
              <a:gd name="adj" fmla="val 20000"/>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03200" tIns="76200" rIns="152400" bIns="762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60</a:t>
            </a:r>
            <a:pPr algn="l" indent="0" marL="0">
              <a:buNone/>
            </a:pPr>
            <a:r>
              <a:rPr lang="en-US" sz="1800" dirty="0">
                <a:solidFill>
                  <a:srgbClr val="18181B"/>
                </a:solidFill>
                <a:latin typeface="Archivo" pitchFamily="34" charset="0"/>
                <a:ea typeface="Archivo" pitchFamily="34" charset="-122"/>
                <a:cs typeface="Archivo" pitchFamily="34" charset="-120"/>
              </a:rPr>
              <a:t> students</a:t>
            </a:r>
            <a:endParaRPr lang="en-US" sz="1800" dirty="0"/>
          </a:p>
        </p:txBody>
      </p:sp>
      <p:sp>
        <p:nvSpPr>
          <p:cNvPr id="7" name="Text 4"/>
          <p:cNvSpPr txBox="1"/>
          <p:nvPr/>
        </p:nvSpPr>
        <p:spPr>
          <a:xfrm>
            <a:off x="548640" y="2560320"/>
            <a:ext cx="5212080" cy="457200"/>
          </a:xfrm>
          <a:prstGeom prst="roundRect">
            <a:avLst>
              <a:gd name="adj" fmla="val 20000"/>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03200" tIns="76200" rIns="152400" bIns="762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1</a:t>
            </a:r>
            <a:pPr algn="l" indent="0" marL="0">
              <a:buNone/>
            </a:pPr>
            <a:r>
              <a:rPr lang="en-US" sz="1800" dirty="0">
                <a:solidFill>
                  <a:srgbClr val="18181B"/>
                </a:solidFill>
                <a:latin typeface="Archivo" pitchFamily="34" charset="0"/>
                <a:ea typeface="Archivo" pitchFamily="34" charset="-122"/>
                <a:cs typeface="Archivo" pitchFamily="34" charset="-120"/>
              </a:rPr>
              <a:t> rig</a:t>
            </a:r>
            <a:endParaRPr lang="en-US" sz="1800" dirty="0"/>
          </a:p>
        </p:txBody>
      </p:sp>
      <p:sp>
        <p:nvSpPr>
          <p:cNvPr id="8" name="Text 5"/>
          <p:cNvSpPr txBox="1"/>
          <p:nvPr/>
        </p:nvSpPr>
        <p:spPr>
          <a:xfrm>
            <a:off x="548640" y="3108960"/>
            <a:ext cx="5212080" cy="457200"/>
          </a:xfrm>
          <a:prstGeom prst="roundRect">
            <a:avLst>
              <a:gd name="adj" fmla="val 20000"/>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03200" tIns="76200" rIns="152400" bIns="762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45</a:t>
            </a:r>
            <a:pPr algn="l" indent="0" marL="0">
              <a:buNone/>
            </a:pPr>
            <a:r>
              <a:rPr lang="en-US" sz="1800" dirty="0">
                <a:solidFill>
                  <a:srgbClr val="18181B"/>
                </a:solidFill>
                <a:latin typeface="Archivo" pitchFamily="34" charset="0"/>
                <a:ea typeface="Archivo" pitchFamily="34" charset="-122"/>
                <a:cs typeface="Archivo" pitchFamily="34" charset="-120"/>
              </a:rPr>
              <a:t> minutes</a:t>
            </a:r>
            <a:endParaRPr lang="en-US" sz="1800" dirty="0"/>
          </a:p>
        </p:txBody>
      </p:sp>
      <p:sp>
        <p:nvSpPr>
          <p:cNvPr id="9" name="Text 6"/>
          <p:cNvSpPr txBox="1"/>
          <p:nvPr/>
        </p:nvSpPr>
        <p:spPr>
          <a:xfrm>
            <a:off x="548640" y="3657600"/>
            <a:ext cx="5212080" cy="457200"/>
          </a:xfrm>
          <a:prstGeom prst="roundRect">
            <a:avLst>
              <a:gd name="adj" fmla="val 20000"/>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03200" tIns="76200" rIns="152400" bIns="762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1</a:t>
            </a:r>
            <a:pPr algn="l" indent="0" marL="0">
              <a:buNone/>
            </a:pPr>
            <a:r>
              <a:rPr lang="en-US" sz="1800" dirty="0">
                <a:solidFill>
                  <a:srgbClr val="18181B"/>
                </a:solidFill>
                <a:latin typeface="Archivo" pitchFamily="34" charset="0"/>
                <a:ea typeface="Archivo" pitchFamily="34" charset="-122"/>
                <a:cs typeface="Archivo" pitchFamily="34" charset="-120"/>
              </a:rPr>
              <a:t> student touching the equipment</a:t>
            </a:r>
            <a:endParaRPr lang="en-US" sz="1800" dirty="0"/>
          </a:p>
        </p:txBody>
      </p:sp>
      <p:sp>
        <p:nvSpPr>
          <p:cNvPr id="10" name="Text 7"/>
          <p:cNvSpPr txBox="1"/>
          <p:nvPr/>
        </p:nvSpPr>
        <p:spPr>
          <a:xfrm>
            <a:off x="548640" y="4206240"/>
            <a:ext cx="5212080" cy="457200"/>
          </a:xfrm>
          <a:prstGeom prst="roundRect">
            <a:avLst>
              <a:gd name="adj" fmla="val 20000"/>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03200" tIns="76200" rIns="152400" bIns="762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59</a:t>
            </a:r>
            <a:pPr algn="l" indent="0" marL="0">
              <a:buNone/>
            </a:pPr>
            <a:r>
              <a:rPr lang="en-US" sz="1800" dirty="0">
                <a:solidFill>
                  <a:srgbClr val="18181B"/>
                </a:solidFill>
                <a:latin typeface="Archivo" pitchFamily="34" charset="0"/>
                <a:ea typeface="Archivo" pitchFamily="34" charset="-122"/>
                <a:cs typeface="Archivo" pitchFamily="34" charset="-120"/>
              </a:rPr>
              <a:t> students saying: “Bro, send readings?”</a:t>
            </a:r>
            <a:endParaRPr lang="en-US" sz="1800" dirty="0"/>
          </a:p>
        </p:txBody>
      </p:sp>
      <p:sp>
        <p:nvSpPr>
          <p:cNvPr id="11" name="Text 8"/>
          <p:cNvSpPr txBox="1"/>
          <p:nvPr/>
        </p:nvSpPr>
        <p:spPr>
          <a:xfrm>
            <a:off x="6035040" y="2011680"/>
            <a:ext cx="2560320" cy="2468880"/>
          </a:xfrm>
          <a:prstGeom prst="roundRect">
            <a:avLst>
              <a:gd name="adj" fmla="val 3704"/>
            </a:avLst>
          </a:prstGeom>
          <a:solidFill>
            <a:srgbClr val="FEF3C7"/>
          </a:solidFill>
          <a:ln w="9525">
            <a:solidFill>
              <a:srgbClr val="E8E2D6"/>
            </a:solidFill>
          </a:ln>
        </p:spPr>
        <p:txBody>
          <a:bodyPr wrap="square" lIns="203200" tIns="152400" rIns="203200" bIns="152400" rtlCol="0" anchor="ctr"/>
          <a:lstStyle/>
          <a:p>
            <a:pPr algn="l" indent="0" marL="0">
              <a:buNone/>
            </a:pPr>
            <a:r>
              <a:rPr lang="en-US" sz="1800" b="1" dirty="0">
                <a:solidFill>
                  <a:srgbClr val="18181B"/>
                </a:solidFill>
                <a:latin typeface="Archivo" pitchFamily="34" charset="0"/>
                <a:ea typeface="Archivo" pitchFamily="34" charset="-122"/>
                <a:cs typeface="Archivo" pitchFamily="34" charset="-120"/>
              </a:rPr>
              <a:t>Bottom line: </a:t>
            </a:r>
            <a:pPr algn="l" indent="0" marL="0">
              <a:buNone/>
            </a:pPr>
            <a:r>
              <a:rPr lang="en-US" sz="1800" dirty="0">
                <a:solidFill>
                  <a:srgbClr val="18181B"/>
                </a:solidFill>
                <a:latin typeface="Archivo" pitchFamily="34" charset="0"/>
                <a:ea typeface="Archivo" pitchFamily="34" charset="-122"/>
                <a:cs typeface="Archivo" pitchFamily="34" charset="-120"/>
              </a:rPr>
              <a:t>Practical learning is often observation, memorisation, and last-minute viva panic.</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WHY THIS MATTERS</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Students enter the lab without knowing:</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2057400"/>
            <a:ext cx="3931920" cy="868680"/>
          </a:xfrm>
          <a:prstGeom prst="roundRect">
            <a:avLst>
              <a:gd name="adj" fmla="val 1052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What each component does</a:t>
            </a:r>
            <a:endParaRPr lang="en-US" sz="1800" dirty="0"/>
          </a:p>
        </p:txBody>
      </p:sp>
      <p:sp>
        <p:nvSpPr>
          <p:cNvPr id="7" name="Shape 4"/>
          <p:cNvSpPr/>
          <p:nvPr/>
        </p:nvSpPr>
        <p:spPr>
          <a:xfrm>
            <a:off x="731520" y="2400300"/>
            <a:ext cx="182880" cy="182880"/>
          </a:xfrm>
          <a:prstGeom prst="ellipse">
            <a:avLst/>
          </a:prstGeom>
          <a:solidFill>
            <a:srgbClr val="D97706"/>
          </a:solidFill>
          <a:ln w="12700">
            <a:solidFill>
              <a:srgbClr val="D97706"/>
            </a:solidFill>
            <a:prstDash val="solid"/>
          </a:ln>
        </p:spPr>
      </p:sp>
      <p:sp>
        <p:nvSpPr>
          <p:cNvPr id="8" name="Text 5"/>
          <p:cNvSpPr txBox="1"/>
          <p:nvPr/>
        </p:nvSpPr>
        <p:spPr>
          <a:xfrm>
            <a:off x="4663440" y="2057400"/>
            <a:ext cx="3931920" cy="868680"/>
          </a:xfrm>
          <a:prstGeom prst="roundRect">
            <a:avLst>
              <a:gd name="adj" fmla="val 1052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Which values to record</a:t>
            </a:r>
            <a:endParaRPr lang="en-US" sz="1800" dirty="0"/>
          </a:p>
        </p:txBody>
      </p:sp>
      <p:sp>
        <p:nvSpPr>
          <p:cNvPr id="9" name="Shape 6"/>
          <p:cNvSpPr/>
          <p:nvPr/>
        </p:nvSpPr>
        <p:spPr>
          <a:xfrm>
            <a:off x="4846320" y="2400300"/>
            <a:ext cx="182880" cy="182880"/>
          </a:xfrm>
          <a:prstGeom prst="ellipse">
            <a:avLst/>
          </a:prstGeom>
          <a:solidFill>
            <a:srgbClr val="D97706"/>
          </a:solidFill>
          <a:ln w="12700">
            <a:solidFill>
              <a:srgbClr val="D97706"/>
            </a:solidFill>
            <a:prstDash val="solid"/>
          </a:ln>
        </p:spPr>
      </p:sp>
      <p:sp>
        <p:nvSpPr>
          <p:cNvPr id="10" name="Text 7"/>
          <p:cNvSpPr txBox="1"/>
          <p:nvPr/>
        </p:nvSpPr>
        <p:spPr>
          <a:xfrm>
            <a:off x="548640" y="3108960"/>
            <a:ext cx="3931920" cy="868680"/>
          </a:xfrm>
          <a:prstGeom prst="roundRect">
            <a:avLst>
              <a:gd name="adj" fmla="val 1052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How formulas connect to the experiment</a:t>
            </a:r>
            <a:endParaRPr lang="en-US" sz="1800" dirty="0"/>
          </a:p>
        </p:txBody>
      </p:sp>
      <p:sp>
        <p:nvSpPr>
          <p:cNvPr id="11" name="Shape 8"/>
          <p:cNvSpPr/>
          <p:nvPr/>
        </p:nvSpPr>
        <p:spPr>
          <a:xfrm>
            <a:off x="731520" y="3451860"/>
            <a:ext cx="182880" cy="182880"/>
          </a:xfrm>
          <a:prstGeom prst="ellipse">
            <a:avLst/>
          </a:prstGeom>
          <a:solidFill>
            <a:srgbClr val="D97706"/>
          </a:solidFill>
          <a:ln w="12700">
            <a:solidFill>
              <a:srgbClr val="D97706"/>
            </a:solidFill>
            <a:prstDash val="solid"/>
          </a:ln>
        </p:spPr>
      </p:sp>
      <p:sp>
        <p:nvSpPr>
          <p:cNvPr id="12" name="Text 9"/>
          <p:cNvSpPr txBox="1"/>
          <p:nvPr/>
        </p:nvSpPr>
        <p:spPr>
          <a:xfrm>
            <a:off x="4663440" y="3108960"/>
            <a:ext cx="3931920" cy="868680"/>
          </a:xfrm>
          <a:prstGeom prst="roundRect">
            <a:avLst>
              <a:gd name="adj" fmla="val 1052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What the examiner may ask in viva</a:t>
            </a:r>
            <a:endParaRPr lang="en-US" sz="1800" dirty="0"/>
          </a:p>
        </p:txBody>
      </p:sp>
      <p:sp>
        <p:nvSpPr>
          <p:cNvPr id="13" name="Shape 10"/>
          <p:cNvSpPr/>
          <p:nvPr/>
        </p:nvSpPr>
        <p:spPr>
          <a:xfrm>
            <a:off x="4846320" y="3451860"/>
            <a:ext cx="182880" cy="182880"/>
          </a:xfrm>
          <a:prstGeom prst="ellipse">
            <a:avLst/>
          </a:prstGeom>
          <a:solidFill>
            <a:srgbClr val="D97706"/>
          </a:solidFill>
          <a:ln w="12700">
            <a:solidFill>
              <a:srgbClr val="D97706"/>
            </a:solidFill>
            <a:prstDash val="solid"/>
          </a:ln>
        </p:spPr>
      </p:sp>
      <p:sp>
        <p:nvSpPr>
          <p:cNvPr id="14" name="Text 11"/>
          <p:cNvSpPr txBox="1"/>
          <p:nvPr/>
        </p:nvSpPr>
        <p:spPr>
          <a:xfrm>
            <a:off x="548640" y="4297680"/>
            <a:ext cx="8046720" cy="457200"/>
          </a:xfrm>
          <a:prstGeom prst="rect">
            <a:avLst/>
          </a:prstGeom>
          <a:noFill/>
          <a:ln/>
        </p:spPr>
        <p:txBody>
          <a:bodyPr wrap="square" lIns="0" tIns="0" rIns="0" bIns="0" rtlCol="0" anchor="t"/>
          <a:lstStyle/>
          <a:p>
            <a:pPr indent="0" marL="0">
              <a:buNone/>
            </a:pPr>
            <a:r>
              <a:rPr lang="en-US" sz="1800" dirty="0">
                <a:solidFill>
                  <a:srgbClr val="52525B"/>
                </a:solidFill>
                <a:latin typeface="Archivo" pitchFamily="34" charset="0"/>
                <a:ea typeface="Archivo" pitchFamily="34" charset="-122"/>
                <a:cs typeface="Archivo" pitchFamily="34" charset="-120"/>
              </a:rPr>
              <a:t>Faculty repeatedly explain the same rig, procedure and calculations for every batch.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SOLUTION</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Simvaya turns a lab manual into an interactive digital twin.</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1965960"/>
            <a:ext cx="8046720" cy="320040"/>
          </a:xfrm>
          <a:prstGeom prst="rect">
            <a:avLst/>
          </a:prstGeom>
          <a:noFill/>
          <a:ln/>
        </p:spPr>
        <p:txBody>
          <a:bodyPr wrap="square" lIns="0" tIns="0" rIns="0" bIns="0" rtlCol="0" anchor="ctr"/>
          <a:lstStyle/>
          <a:p>
            <a:pPr indent="0" marL="0">
              <a:buNone/>
            </a:pPr>
            <a:r>
              <a:rPr lang="en-US" sz="1800" dirty="0">
                <a:solidFill>
                  <a:srgbClr val="52525B"/>
                </a:solidFill>
                <a:latin typeface="Archivo" pitchFamily="34" charset="0"/>
                <a:ea typeface="Archivo" pitchFamily="34" charset="-122"/>
                <a:cs typeface="Archivo" pitchFamily="34" charset="-120"/>
              </a:rPr>
              <a:t>Students can:</a:t>
            </a:r>
            <a:endParaRPr lang="en-US" sz="1800" dirty="0"/>
          </a:p>
        </p:txBody>
      </p:sp>
      <p:sp>
        <p:nvSpPr>
          <p:cNvPr id="7" name="Text 4"/>
          <p:cNvSpPr txBox="1"/>
          <p:nvPr/>
        </p:nvSpPr>
        <p:spPr>
          <a:xfrm>
            <a:off x="548640" y="2377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Explore the 3D rig and components</a:t>
            </a:r>
            <a:endParaRPr lang="en-US" sz="1600" dirty="0"/>
          </a:p>
        </p:txBody>
      </p:sp>
      <p:sp>
        <p:nvSpPr>
          <p:cNvPr id="8" name="Text 5"/>
          <p:cNvSpPr txBox="1"/>
          <p:nvPr/>
        </p:nvSpPr>
        <p:spPr>
          <a:xfrm>
            <a:off x="3291840" y="2377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Follow the procedure step by step</a:t>
            </a:r>
            <a:endParaRPr lang="en-US" sz="1600" dirty="0"/>
          </a:p>
        </p:txBody>
      </p:sp>
      <p:sp>
        <p:nvSpPr>
          <p:cNvPr id="9" name="Text 6"/>
          <p:cNvSpPr txBox="1"/>
          <p:nvPr/>
        </p:nvSpPr>
        <p:spPr>
          <a:xfrm>
            <a:off x="6035040" y="2377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Change inputs and observe readings</a:t>
            </a:r>
            <a:endParaRPr lang="en-US" sz="1600" dirty="0"/>
          </a:p>
        </p:txBody>
      </p:sp>
      <p:sp>
        <p:nvSpPr>
          <p:cNvPr id="10" name="Text 7"/>
          <p:cNvSpPr txBox="1"/>
          <p:nvPr/>
        </p:nvSpPr>
        <p:spPr>
          <a:xfrm>
            <a:off x="548640" y="3520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Generate observation tables and graphs</a:t>
            </a:r>
            <a:endParaRPr lang="en-US" sz="1600" dirty="0"/>
          </a:p>
        </p:txBody>
      </p:sp>
      <p:sp>
        <p:nvSpPr>
          <p:cNvPr id="11" name="Text 8"/>
          <p:cNvSpPr txBox="1"/>
          <p:nvPr/>
        </p:nvSpPr>
        <p:spPr>
          <a:xfrm>
            <a:off x="3291840" y="3520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Understand formula-by-formula calculations</a:t>
            </a:r>
            <a:endParaRPr lang="en-US" sz="1600" dirty="0"/>
          </a:p>
        </p:txBody>
      </p:sp>
      <p:sp>
        <p:nvSpPr>
          <p:cNvPr id="12" name="Text 9"/>
          <p:cNvSpPr txBox="1"/>
          <p:nvPr/>
        </p:nvSpPr>
        <p:spPr>
          <a:xfrm>
            <a:off x="6035040" y="3520440"/>
            <a:ext cx="2560320" cy="1005840"/>
          </a:xfrm>
          <a:prstGeom prst="roundRect">
            <a:avLst>
              <a:gd name="adj" fmla="val 9091"/>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27000" rIns="228600" bIns="1270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Practise viva before the practical exam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PRODUCT DEMO</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From “Which valve is this?” to “I know exactly why this reading changed.”</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1965960"/>
            <a:ext cx="8046720" cy="274320"/>
          </a:xfrm>
          <a:prstGeom prst="rect">
            <a:avLst/>
          </a:prstGeom>
          <a:noFill/>
          <a:ln/>
        </p:spPr>
        <p:txBody>
          <a:bodyPr wrap="square" lIns="0" tIns="0" rIns="0" bIns="0" rtlCol="0" anchor="ctr"/>
          <a:lstStyle/>
          <a:p>
            <a:pPr indent="0" marL="0">
              <a:buNone/>
            </a:pPr>
            <a:r>
              <a:rPr lang="en-US" sz="1600" dirty="0">
                <a:solidFill>
                  <a:srgbClr val="52525B"/>
                </a:solidFill>
                <a:latin typeface="Archivo" pitchFamily="34" charset="0"/>
                <a:ea typeface="Archivo" pitchFamily="34" charset="-122"/>
                <a:cs typeface="Archivo" pitchFamily="34" charset="-120"/>
              </a:rPr>
              <a:t>Demo flow:</a:t>
            </a:r>
            <a:endParaRPr lang="en-US" sz="1600" dirty="0"/>
          </a:p>
        </p:txBody>
      </p:sp>
      <p:sp>
        <p:nvSpPr>
          <p:cNvPr id="7" name="Text 4"/>
          <p:cNvSpPr txBox="1"/>
          <p:nvPr/>
        </p:nvSpPr>
        <p:spPr>
          <a:xfrm>
            <a:off x="548640" y="233172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Open the Pelton turbine or induction motor lab</a:t>
            </a:r>
            <a:endParaRPr lang="en-US" sz="1600" dirty="0"/>
          </a:p>
        </p:txBody>
      </p:sp>
      <p:sp>
        <p:nvSpPr>
          <p:cNvPr id="8" name="Text 5"/>
          <p:cNvSpPr txBox="1"/>
          <p:nvPr/>
        </p:nvSpPr>
        <p:spPr>
          <a:xfrm>
            <a:off x="713232" y="247345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1</a:t>
            </a:r>
            <a:endParaRPr lang="en-US" sz="1400" dirty="0"/>
          </a:p>
        </p:txBody>
      </p:sp>
      <p:sp>
        <p:nvSpPr>
          <p:cNvPr id="9" name="Text 6"/>
          <p:cNvSpPr txBox="1"/>
          <p:nvPr/>
        </p:nvSpPr>
        <p:spPr>
          <a:xfrm>
            <a:off x="548640" y="315468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Explore the apparatus</a:t>
            </a:r>
            <a:endParaRPr lang="en-US" sz="1600" dirty="0"/>
          </a:p>
        </p:txBody>
      </p:sp>
      <p:sp>
        <p:nvSpPr>
          <p:cNvPr id="10" name="Text 7"/>
          <p:cNvSpPr txBox="1"/>
          <p:nvPr/>
        </p:nvSpPr>
        <p:spPr>
          <a:xfrm>
            <a:off x="713232" y="329641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2</a:t>
            </a:r>
            <a:endParaRPr lang="en-US" sz="1400" dirty="0"/>
          </a:p>
        </p:txBody>
      </p:sp>
      <p:sp>
        <p:nvSpPr>
          <p:cNvPr id="11" name="Text 8"/>
          <p:cNvSpPr txBox="1"/>
          <p:nvPr/>
        </p:nvSpPr>
        <p:spPr>
          <a:xfrm>
            <a:off x="548640" y="397764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Run the simulation</a:t>
            </a:r>
            <a:endParaRPr lang="en-US" sz="1600" dirty="0"/>
          </a:p>
        </p:txBody>
      </p:sp>
      <p:sp>
        <p:nvSpPr>
          <p:cNvPr id="12" name="Text 9"/>
          <p:cNvSpPr txBox="1"/>
          <p:nvPr/>
        </p:nvSpPr>
        <p:spPr>
          <a:xfrm>
            <a:off x="713232" y="411937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3</a:t>
            </a:r>
            <a:endParaRPr lang="en-US" sz="1400" dirty="0"/>
          </a:p>
        </p:txBody>
      </p:sp>
      <p:sp>
        <p:nvSpPr>
          <p:cNvPr id="13" name="Text 10"/>
          <p:cNvSpPr txBox="1"/>
          <p:nvPr/>
        </p:nvSpPr>
        <p:spPr>
          <a:xfrm>
            <a:off x="4663440" y="233172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Record readings</a:t>
            </a:r>
            <a:endParaRPr lang="en-US" sz="1600" dirty="0"/>
          </a:p>
        </p:txBody>
      </p:sp>
      <p:sp>
        <p:nvSpPr>
          <p:cNvPr id="14" name="Text 11"/>
          <p:cNvSpPr txBox="1"/>
          <p:nvPr/>
        </p:nvSpPr>
        <p:spPr>
          <a:xfrm>
            <a:off x="4828032" y="247345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4</a:t>
            </a:r>
            <a:endParaRPr lang="en-US" sz="1400" dirty="0"/>
          </a:p>
        </p:txBody>
      </p:sp>
      <p:sp>
        <p:nvSpPr>
          <p:cNvPr id="15" name="Text 12"/>
          <p:cNvSpPr txBox="1"/>
          <p:nvPr/>
        </p:nvSpPr>
        <p:spPr>
          <a:xfrm>
            <a:off x="4663440" y="315468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View calculations and graphs</a:t>
            </a:r>
            <a:endParaRPr lang="en-US" sz="1600" dirty="0"/>
          </a:p>
        </p:txBody>
      </p:sp>
      <p:sp>
        <p:nvSpPr>
          <p:cNvPr id="16" name="Text 13"/>
          <p:cNvSpPr txBox="1"/>
          <p:nvPr/>
        </p:nvSpPr>
        <p:spPr>
          <a:xfrm>
            <a:off x="4828032" y="329641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5</a:t>
            </a:r>
            <a:endParaRPr lang="en-US" sz="1400" dirty="0"/>
          </a:p>
        </p:txBody>
      </p:sp>
      <p:sp>
        <p:nvSpPr>
          <p:cNvPr id="17" name="Text 14"/>
          <p:cNvSpPr txBox="1"/>
          <p:nvPr/>
        </p:nvSpPr>
        <p:spPr>
          <a:xfrm>
            <a:off x="4663440" y="3977640"/>
            <a:ext cx="3931920" cy="685800"/>
          </a:xfrm>
          <a:prstGeom prst="roundRect">
            <a:avLst>
              <a:gd name="adj" fmla="val 13333"/>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7366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Attempt viva</a:t>
            </a:r>
            <a:endParaRPr lang="en-US" sz="1600" dirty="0"/>
          </a:p>
        </p:txBody>
      </p:sp>
      <p:sp>
        <p:nvSpPr>
          <p:cNvPr id="18" name="Text 15"/>
          <p:cNvSpPr txBox="1"/>
          <p:nvPr/>
        </p:nvSpPr>
        <p:spPr>
          <a:xfrm>
            <a:off x="4828032" y="4119372"/>
            <a:ext cx="402336" cy="402336"/>
          </a:xfrm>
          <a:prstGeom prst="ellipse">
            <a:avLst/>
          </a:prstGeom>
          <a:solidFill>
            <a:srgbClr val="D97706"/>
          </a:solidFill>
          <a:ln/>
        </p:spPr>
        <p:txBody>
          <a:bodyPr wrap="square" lIns="0" tIns="0" rIns="0" bIns="0" rtlCol="0" anchor="ctr"/>
          <a:lstStyle/>
          <a:p>
            <a:pPr algn="ctr" indent="0" marL="0">
              <a:buNone/>
            </a:pPr>
            <a:r>
              <a:rPr lang="en-US" sz="1400" b="1" dirty="0">
                <a:solidFill>
                  <a:srgbClr val="FFFFFF"/>
                </a:solidFill>
                <a:latin typeface="JetBrains Mono" pitchFamily="34" charset="0"/>
                <a:ea typeface="JetBrains Mono" pitchFamily="34" charset="-122"/>
                <a:cs typeface="JetBrains Mono" pitchFamily="34" charset="-120"/>
              </a:rPr>
              <a:t>6</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WHY US</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Not a video. Not a PDF. Not a generic simulation.</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8046720" cy="914400"/>
        </p:xfrm>
        <a:graphic>
          <a:graphicData uri="http://schemas.openxmlformats.org/drawingml/2006/table">
            <a:tbl>
              <a:tblPr/>
              <a:tblGrid>
                <a:gridCol w="4023360"/>
                <a:gridCol w="4023360"/>
              </a:tblGrid>
              <a:tr h="420624">
                <a:tc>
                  <a:txBody>
                    <a:bodyPr/>
                    <a:lstStyle/>
                    <a:p>
                      <a:pPr indent="0" marL="0">
                        <a:buNone/>
                      </a:pPr>
                      <a:r>
                        <a:rPr lang="en-US" sz="1600" b="1" dirty="0">
                          <a:solidFill>
                            <a:srgbClr val="FFFFFF"/>
                          </a:solidFill>
                          <a:latin typeface="Archivo" pitchFamily="34" charset="0"/>
                          <a:ea typeface="Archivo" pitchFamily="34" charset="-122"/>
                          <a:cs typeface="Archivo" pitchFamily="34" charset="-120"/>
                        </a:rPr>
                        <a:t>Existing approach</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D97706"/>
                    </a:solidFill>
                  </a:tcPr>
                </a:tc>
                <a:tc>
                  <a:txBody>
                    <a:bodyPr/>
                    <a:lstStyle/>
                    <a:p>
                      <a:pPr indent="0" marL="0">
                        <a:buNone/>
                      </a:pPr>
                      <a:r>
                        <a:rPr lang="en-US" sz="1600" b="1" dirty="0">
                          <a:solidFill>
                            <a:srgbClr val="FFFFFF"/>
                          </a:solidFill>
                          <a:latin typeface="Archivo" pitchFamily="34" charset="0"/>
                          <a:ea typeface="Archivo" pitchFamily="34" charset="-122"/>
                          <a:cs typeface="Archivo" pitchFamily="34" charset="-120"/>
                        </a:rPr>
                        <a:t>Simvaya</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D97706"/>
                    </a:solidFill>
                  </a:tcPr>
                </a:tc>
              </a:tr>
              <a:tr h="420624">
                <a:tc>
                  <a:txBody>
                    <a:bodyPr/>
                    <a:lstStyle/>
                    <a:p>
                      <a:pPr indent="0" marL="0">
                        <a:buNone/>
                      </a:pPr>
                      <a:r>
                        <a:rPr lang="en-US" sz="1600" dirty="0">
                          <a:solidFill>
                            <a:srgbClr val="52525B"/>
                          </a:solidFill>
                          <a:latin typeface="Archivo" pitchFamily="34" charset="0"/>
                          <a:ea typeface="Archivo" pitchFamily="34" charset="-122"/>
                          <a:cs typeface="Archivo" pitchFamily="34" charset="-120"/>
                        </a:rPr>
                        <a:t>Read theory</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FFFFF"/>
                    </a:solidFill>
                  </a:tcPr>
                </a:tc>
                <a:tc>
                  <a:txBody>
                    <a:bodyPr/>
                    <a:lstStyle/>
                    <a:p>
                      <a:pPr indent="0" marL="0">
                        <a:buNone/>
                      </a:pPr>
                      <a:r>
                        <a:rPr lang="en-US" sz="1600" b="1" dirty="0">
                          <a:solidFill>
                            <a:srgbClr val="18181B"/>
                          </a:solidFill>
                          <a:latin typeface="Archivo" pitchFamily="34" charset="0"/>
                          <a:ea typeface="Archivo" pitchFamily="34" charset="-122"/>
                          <a:cs typeface="Archivo" pitchFamily="34" charset="-120"/>
                        </a:rPr>
                        <a:t>Operate the rig</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EF3C7"/>
                    </a:solidFill>
                  </a:tcPr>
                </a:tc>
              </a:tr>
              <a:tr h="420624">
                <a:tc>
                  <a:txBody>
                    <a:bodyPr/>
                    <a:lstStyle/>
                    <a:p>
                      <a:pPr indent="0" marL="0">
                        <a:buNone/>
                      </a:pPr>
                      <a:r>
                        <a:rPr lang="en-US" sz="1600" dirty="0">
                          <a:solidFill>
                            <a:srgbClr val="52525B"/>
                          </a:solidFill>
                          <a:latin typeface="Archivo" pitchFamily="34" charset="0"/>
                          <a:ea typeface="Archivo" pitchFamily="34" charset="-122"/>
                          <a:cs typeface="Archivo" pitchFamily="34" charset="-120"/>
                        </a:rPr>
                        <a:t>Watch a demo</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FFFFF"/>
                    </a:solidFill>
                  </a:tcPr>
                </a:tc>
                <a:tc>
                  <a:txBody>
                    <a:bodyPr/>
                    <a:lstStyle/>
                    <a:p>
                      <a:pPr indent="0" marL="0">
                        <a:buNone/>
                      </a:pPr>
                      <a:r>
                        <a:rPr lang="en-US" sz="1600" b="1" dirty="0">
                          <a:solidFill>
                            <a:srgbClr val="18181B"/>
                          </a:solidFill>
                          <a:latin typeface="Archivo" pitchFamily="34" charset="0"/>
                          <a:ea typeface="Archivo" pitchFamily="34" charset="-122"/>
                          <a:cs typeface="Archivo" pitchFamily="34" charset="-120"/>
                        </a:rPr>
                        <a:t>Interact with a digital twin</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EF3C7"/>
                    </a:solidFill>
                  </a:tcPr>
                </a:tc>
              </a:tr>
              <a:tr h="420624">
                <a:tc>
                  <a:txBody>
                    <a:bodyPr/>
                    <a:lstStyle/>
                    <a:p>
                      <a:pPr indent="0" marL="0">
                        <a:buNone/>
                      </a:pPr>
                      <a:r>
                        <a:rPr lang="en-US" sz="1600" dirty="0">
                          <a:solidFill>
                            <a:srgbClr val="52525B"/>
                          </a:solidFill>
                          <a:latin typeface="Archivo" pitchFamily="34" charset="0"/>
                          <a:ea typeface="Archivo" pitchFamily="34" charset="-122"/>
                          <a:cs typeface="Archivo" pitchFamily="34" charset="-120"/>
                        </a:rPr>
                        <a:t>Copy observations</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FFFFF"/>
                    </a:solidFill>
                  </a:tcPr>
                </a:tc>
                <a:tc>
                  <a:txBody>
                    <a:bodyPr/>
                    <a:lstStyle/>
                    <a:p>
                      <a:pPr indent="0" marL="0">
                        <a:buNone/>
                      </a:pPr>
                      <a:r>
                        <a:rPr lang="en-US" sz="1600" b="1" dirty="0">
                          <a:solidFill>
                            <a:srgbClr val="18181B"/>
                          </a:solidFill>
                          <a:latin typeface="Archivo" pitchFamily="34" charset="0"/>
                          <a:ea typeface="Archivo" pitchFamily="34" charset="-122"/>
                          <a:cs typeface="Archivo" pitchFamily="34" charset="-120"/>
                        </a:rPr>
                        <a:t>Generate and understand readings</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EF3C7"/>
                    </a:solidFill>
                  </a:tcPr>
                </a:tc>
              </a:tr>
              <a:tr h="420624">
                <a:tc>
                  <a:txBody>
                    <a:bodyPr/>
                    <a:lstStyle/>
                    <a:p>
                      <a:pPr indent="0" marL="0">
                        <a:buNone/>
                      </a:pPr>
                      <a:r>
                        <a:rPr lang="en-US" sz="1600" dirty="0">
                          <a:solidFill>
                            <a:srgbClr val="52525B"/>
                          </a:solidFill>
                          <a:latin typeface="Archivo" pitchFamily="34" charset="0"/>
                          <a:ea typeface="Archivo" pitchFamily="34" charset="-122"/>
                          <a:cs typeface="Archivo" pitchFamily="34" charset="-120"/>
                        </a:rPr>
                        <a:t>Memorise for viva</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FFFFF"/>
                    </a:solidFill>
                  </a:tcPr>
                </a:tc>
                <a:tc>
                  <a:txBody>
                    <a:bodyPr/>
                    <a:lstStyle/>
                    <a:p>
                      <a:pPr indent="0" marL="0">
                        <a:buNone/>
                      </a:pPr>
                      <a:r>
                        <a:rPr lang="en-US" sz="1600" b="1" dirty="0">
                          <a:solidFill>
                            <a:srgbClr val="18181B"/>
                          </a:solidFill>
                          <a:latin typeface="Archivo" pitchFamily="34" charset="0"/>
                          <a:ea typeface="Archivo" pitchFamily="34" charset="-122"/>
                          <a:cs typeface="Archivo" pitchFamily="34" charset="-120"/>
                        </a:rPr>
                        <a:t>Practise viva in context</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EF3C7"/>
                    </a:solidFill>
                  </a:tcPr>
                </a:tc>
              </a:tr>
              <a:tr h="420624">
                <a:tc>
                  <a:txBody>
                    <a:bodyPr/>
                    <a:lstStyle/>
                    <a:p>
                      <a:pPr indent="0" marL="0">
                        <a:buNone/>
                      </a:pPr>
                      <a:r>
                        <a:rPr lang="en-US" sz="1600" dirty="0">
                          <a:solidFill>
                            <a:srgbClr val="52525B"/>
                          </a:solidFill>
                          <a:latin typeface="Archivo" pitchFamily="34" charset="0"/>
                          <a:ea typeface="Archivo" pitchFamily="34" charset="-122"/>
                          <a:cs typeface="Archivo" pitchFamily="34" charset="-120"/>
                        </a:rPr>
                        <a:t>One lab session</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FFFFF"/>
                    </a:solidFill>
                  </a:tcPr>
                </a:tc>
                <a:tc>
                  <a:txBody>
                    <a:bodyPr/>
                    <a:lstStyle/>
                    <a:p>
                      <a:pPr indent="0" marL="0">
                        <a:buNone/>
                      </a:pPr>
                      <a:r>
                        <a:rPr lang="en-US" sz="1600" b="1" dirty="0">
                          <a:solidFill>
                            <a:srgbClr val="18181B"/>
                          </a:solidFill>
                          <a:latin typeface="Archivo" pitchFamily="34" charset="0"/>
                          <a:ea typeface="Archivo" pitchFamily="34" charset="-122"/>
                          <a:cs typeface="Archivo" pitchFamily="34" charset="-120"/>
                        </a:rPr>
                        <a:t>Repeat anytime</a:t>
                      </a:r>
                      <a:endParaRPr lang="en-US" sz="1600" dirty="0">
                        <a:latin typeface="Archivo" charset="0"/>
                        <a:ea typeface="Archivo" charset="0"/>
                        <a:cs typeface="Archivo" charset="0"/>
                      </a:endParaRPr>
                    </a:p>
                  </a:txBody>
                  <a:tcPr marL="91440" marR="91440" marT="45720" marB="45720" anchor="ctr">
                    <a:lnL w="9525" cap="flat" cmpd="sng" algn="ctr">
                      <a:solidFill>
                        <a:srgbClr val="E8E2D6"/>
                      </a:solidFill>
                      <a:prstDash val="solid"/>
                      <a:round/>
                      <a:headEnd type="none" w="med" len="med"/>
                      <a:tailEnd type="none" w="med" len="med"/>
                    </a:lnL>
                    <a:lnR w="9525" cap="flat" cmpd="sng" algn="ctr">
                      <a:solidFill>
                        <a:srgbClr val="E8E2D6"/>
                      </a:solidFill>
                      <a:prstDash val="solid"/>
                      <a:round/>
                      <a:headEnd type="none" w="med" len="med"/>
                      <a:tailEnd type="none" w="med" len="med"/>
                    </a:lnR>
                    <a:lnT w="9525" cap="flat" cmpd="sng" algn="ctr">
                      <a:solidFill>
                        <a:srgbClr val="E8E2D6"/>
                      </a:solidFill>
                      <a:prstDash val="solid"/>
                      <a:round/>
                      <a:headEnd type="none" w="med" len="med"/>
                      <a:tailEnd type="none" w="med" len="med"/>
                    </a:lnT>
                    <a:lnB w="9525" cap="flat" cmpd="sng" algn="ctr">
                      <a:solidFill>
                        <a:srgbClr val="E8E2D6"/>
                      </a:solidFill>
                      <a:prstDash val="solid"/>
                      <a:round/>
                      <a:headEnd type="none" w="med" len="med"/>
                      <a:tailEnd type="none" w="med" len="med"/>
                    </a:lnB>
                    <a:solidFill>
                      <a:srgbClr val="FEF3C7"/>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Market</a:t>
            </a:r>
            <a:endParaRPr lang="en-US" sz="2800" dirty="0"/>
          </a:p>
        </p:txBody>
      </p:sp>
      <p:pic>
        <p:nvPicPr>
          <p:cNvPr id="3"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4" name="Text 1"/>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5" name="Text 2"/>
          <p:cNvSpPr txBox="1"/>
          <p:nvPr/>
        </p:nvSpPr>
        <p:spPr>
          <a:xfrm>
            <a:off x="548640" y="2011680"/>
            <a:ext cx="8046720" cy="566928"/>
          </a:xfrm>
          <a:prstGeom prst="roundRect">
            <a:avLst>
              <a:gd name="adj" fmla="val 16129"/>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01600" rIns="177800" bIns="1016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39</a:t>
            </a:r>
            <a:pPr algn="l" indent="0" marL="0">
              <a:buNone/>
            </a:pPr>
            <a:r>
              <a:rPr lang="en-US" sz="1800" dirty="0">
                <a:solidFill>
                  <a:srgbClr val="18181B"/>
                </a:solidFill>
                <a:latin typeface="Archivo" pitchFamily="34" charset="0"/>
                <a:ea typeface="Archivo" pitchFamily="34" charset="-122"/>
                <a:cs typeface="Archivo" pitchFamily="34" charset="-120"/>
              </a:rPr>
              <a:t> lakh undergraduate engineering and technology learners in India</a:t>
            </a:r>
            <a:endParaRPr lang="en-US" sz="1800" dirty="0"/>
          </a:p>
        </p:txBody>
      </p:sp>
      <p:sp>
        <p:nvSpPr>
          <p:cNvPr id="6" name="Text 3"/>
          <p:cNvSpPr txBox="1"/>
          <p:nvPr/>
        </p:nvSpPr>
        <p:spPr>
          <a:xfrm>
            <a:off x="548640" y="2697480"/>
            <a:ext cx="8046720" cy="566928"/>
          </a:xfrm>
          <a:prstGeom prst="roundRect">
            <a:avLst>
              <a:gd name="adj" fmla="val 16129"/>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01600" rIns="177800" bIns="101600" rtlCol="0" anchor="ctr"/>
          <a:lstStyle/>
          <a:p>
            <a:pPr algn="l" indent="0" marL="0">
              <a:buNone/>
            </a:pPr>
            <a:r>
              <a:rPr lang="en-US" sz="1800" b="1" dirty="0">
                <a:solidFill>
                  <a:srgbClr val="92400E"/>
                </a:solidFill>
                <a:latin typeface="JetBrains Mono" pitchFamily="34" charset="0"/>
                <a:ea typeface="JetBrains Mono" pitchFamily="34" charset="-122"/>
                <a:cs typeface="JetBrains Mono" pitchFamily="34" charset="-120"/>
              </a:rPr>
              <a:t>6.48</a:t>
            </a:r>
            <a:pPr algn="l" indent="0" marL="0">
              <a:buNone/>
            </a:pPr>
            <a:r>
              <a:rPr lang="en-US" sz="1800" dirty="0">
                <a:solidFill>
                  <a:srgbClr val="18181B"/>
                </a:solidFill>
                <a:latin typeface="Archivo" pitchFamily="34" charset="0"/>
                <a:ea typeface="Archivo" pitchFamily="34" charset="-122"/>
                <a:cs typeface="Archivo" pitchFamily="34" charset="-120"/>
              </a:rPr>
              <a:t> crore Class 9–12 learners as the future school science market</a:t>
            </a:r>
            <a:endParaRPr lang="en-US" sz="1800" dirty="0"/>
          </a:p>
        </p:txBody>
      </p:sp>
      <p:sp>
        <p:nvSpPr>
          <p:cNvPr id="7" name="Text 4"/>
          <p:cNvSpPr txBox="1"/>
          <p:nvPr/>
        </p:nvSpPr>
        <p:spPr>
          <a:xfrm>
            <a:off x="548640" y="3383280"/>
            <a:ext cx="8046720" cy="566928"/>
          </a:xfrm>
          <a:prstGeom prst="roundRect">
            <a:avLst>
              <a:gd name="adj" fmla="val 16129"/>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01600" rIns="177800" bIns="101600" rtlCol="0" anchor="ctr"/>
          <a:lstStyle/>
          <a:p>
            <a:pPr algn="l" indent="0" marL="0">
              <a:buNone/>
            </a:pPr>
            <a:r>
              <a:rPr lang="en-US" sz="1800" b="1" dirty="0">
                <a:solidFill>
                  <a:srgbClr val="18181B"/>
                </a:solidFill>
                <a:latin typeface="Archivo" pitchFamily="34" charset="0"/>
                <a:ea typeface="Archivo" pitchFamily="34" charset="-122"/>
                <a:cs typeface="Archivo" pitchFamily="34" charset="-120"/>
              </a:rPr>
              <a:t>Initial focus:</a:t>
            </a:r>
            <a:pPr algn="l" indent="0" marL="0">
              <a:buNone/>
            </a:pPr>
            <a:r>
              <a:rPr lang="en-US" sz="1800" dirty="0">
                <a:solidFill>
                  <a:srgbClr val="18181B"/>
                </a:solidFill>
                <a:latin typeface="Archivo" pitchFamily="34" charset="0"/>
                <a:ea typeface="Archivo" pitchFamily="34" charset="-122"/>
                <a:cs typeface="Archivo" pitchFamily="34" charset="-120"/>
              </a:rPr>
              <a:t> mechanical and electrical engineering labs</a:t>
            </a:r>
            <a:endParaRPr lang="en-US" sz="1800" dirty="0"/>
          </a:p>
        </p:txBody>
      </p:sp>
      <p:sp>
        <p:nvSpPr>
          <p:cNvPr id="8" name="Text 5"/>
          <p:cNvSpPr txBox="1"/>
          <p:nvPr/>
        </p:nvSpPr>
        <p:spPr>
          <a:xfrm>
            <a:off x="548640" y="4069080"/>
            <a:ext cx="8046720" cy="566928"/>
          </a:xfrm>
          <a:prstGeom prst="roundRect">
            <a:avLst>
              <a:gd name="adj" fmla="val 16129"/>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228600" tIns="101600" rIns="177800" bIns="101600" rtlCol="0" anchor="ctr"/>
          <a:lstStyle/>
          <a:p>
            <a:pPr algn="l" indent="0" marL="0">
              <a:buNone/>
            </a:pPr>
            <a:r>
              <a:rPr lang="en-US" sz="1800" b="1" dirty="0">
                <a:solidFill>
                  <a:srgbClr val="18181B"/>
                </a:solidFill>
                <a:latin typeface="Archivo" pitchFamily="34" charset="0"/>
                <a:ea typeface="Archivo" pitchFamily="34" charset="-122"/>
                <a:cs typeface="Archivo" pitchFamily="34" charset="-120"/>
              </a:rPr>
              <a:t>Buyer:</a:t>
            </a:r>
            <a:pPr algn="l" indent="0" marL="0">
              <a:buNone/>
            </a:pPr>
            <a:r>
              <a:rPr lang="en-US" sz="1800" dirty="0">
                <a:solidFill>
                  <a:srgbClr val="18181B"/>
                </a:solidFill>
                <a:latin typeface="Archivo" pitchFamily="34" charset="0"/>
                <a:ea typeface="Archivo" pitchFamily="34" charset="-122"/>
                <a:cs typeface="Archivo" pitchFamily="34" charset="-120"/>
              </a:rPr>
              <a:t> colleges, departments, private schools and STEM partners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BUSINESS MODEL</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Institution-paid SaaS</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2103120"/>
            <a:ext cx="3931920" cy="1051560"/>
          </a:xfrm>
          <a:prstGeom prst="roundRect">
            <a:avLst>
              <a:gd name="adj" fmla="val 869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Paid department pilots</a:t>
            </a:r>
            <a:endParaRPr lang="en-US" sz="1800" dirty="0"/>
          </a:p>
        </p:txBody>
      </p:sp>
      <p:sp>
        <p:nvSpPr>
          <p:cNvPr id="7" name="Shape 4"/>
          <p:cNvSpPr/>
          <p:nvPr/>
        </p:nvSpPr>
        <p:spPr>
          <a:xfrm>
            <a:off x="731520" y="2537460"/>
            <a:ext cx="182880" cy="182880"/>
          </a:xfrm>
          <a:prstGeom prst="ellipse">
            <a:avLst/>
          </a:prstGeom>
          <a:solidFill>
            <a:srgbClr val="D97706"/>
          </a:solidFill>
          <a:ln w="12700">
            <a:solidFill>
              <a:srgbClr val="D97706"/>
            </a:solidFill>
            <a:prstDash val="solid"/>
          </a:ln>
        </p:spPr>
      </p:sp>
      <p:sp>
        <p:nvSpPr>
          <p:cNvPr id="8" name="Text 5"/>
          <p:cNvSpPr txBox="1"/>
          <p:nvPr/>
        </p:nvSpPr>
        <p:spPr>
          <a:xfrm>
            <a:off x="4663440" y="2103120"/>
            <a:ext cx="3931920" cy="1051560"/>
          </a:xfrm>
          <a:prstGeom prst="roundRect">
            <a:avLst>
              <a:gd name="adj" fmla="val 869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Annual college lab licenses</a:t>
            </a:r>
            <a:endParaRPr lang="en-US" sz="1800" dirty="0"/>
          </a:p>
        </p:txBody>
      </p:sp>
      <p:sp>
        <p:nvSpPr>
          <p:cNvPr id="9" name="Shape 6"/>
          <p:cNvSpPr/>
          <p:nvPr/>
        </p:nvSpPr>
        <p:spPr>
          <a:xfrm>
            <a:off x="4846320" y="2537460"/>
            <a:ext cx="182880" cy="182880"/>
          </a:xfrm>
          <a:prstGeom prst="ellipse">
            <a:avLst/>
          </a:prstGeom>
          <a:solidFill>
            <a:srgbClr val="D97706"/>
          </a:solidFill>
          <a:ln w="12700">
            <a:solidFill>
              <a:srgbClr val="D97706"/>
            </a:solidFill>
            <a:prstDash val="solid"/>
          </a:ln>
        </p:spPr>
      </p:sp>
      <p:sp>
        <p:nvSpPr>
          <p:cNvPr id="10" name="Text 7"/>
          <p:cNvSpPr txBox="1"/>
          <p:nvPr/>
        </p:nvSpPr>
        <p:spPr>
          <a:xfrm>
            <a:off x="548640" y="3383280"/>
            <a:ext cx="3931920" cy="1051560"/>
          </a:xfrm>
          <a:prstGeom prst="roundRect">
            <a:avLst>
              <a:gd name="adj" fmla="val 869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Custom digital twins for college-specific apparatus</a:t>
            </a:r>
            <a:endParaRPr lang="en-US" sz="1800" dirty="0"/>
          </a:p>
        </p:txBody>
      </p:sp>
      <p:sp>
        <p:nvSpPr>
          <p:cNvPr id="11" name="Shape 8"/>
          <p:cNvSpPr/>
          <p:nvPr/>
        </p:nvSpPr>
        <p:spPr>
          <a:xfrm>
            <a:off x="731520" y="3817620"/>
            <a:ext cx="182880" cy="182880"/>
          </a:xfrm>
          <a:prstGeom prst="ellipse">
            <a:avLst/>
          </a:prstGeom>
          <a:solidFill>
            <a:srgbClr val="D97706"/>
          </a:solidFill>
          <a:ln w="12700">
            <a:solidFill>
              <a:srgbClr val="D97706"/>
            </a:solidFill>
            <a:prstDash val="solid"/>
          </a:ln>
        </p:spPr>
      </p:sp>
      <p:sp>
        <p:nvSpPr>
          <p:cNvPr id="12" name="Text 9"/>
          <p:cNvSpPr txBox="1"/>
          <p:nvPr/>
        </p:nvSpPr>
        <p:spPr>
          <a:xfrm>
            <a:off x="4663440" y="3383280"/>
            <a:ext cx="3931920" cy="1051560"/>
          </a:xfrm>
          <a:prstGeom prst="roundRect">
            <a:avLst>
              <a:gd name="adj" fmla="val 8696"/>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101600" rIns="177800" bIns="101600" rtlCol="0" anchor="ctr"/>
          <a:lstStyle/>
          <a:p>
            <a:pPr algn="l" indent="0" marL="0">
              <a:buNone/>
            </a:pPr>
            <a:r>
              <a:rPr lang="en-US" sz="1800" dirty="0">
                <a:solidFill>
                  <a:srgbClr val="18181B"/>
                </a:solidFill>
                <a:latin typeface="Archivo" pitchFamily="34" charset="0"/>
                <a:ea typeface="Archivo" pitchFamily="34" charset="-122"/>
                <a:cs typeface="Archivo" pitchFamily="34" charset="-120"/>
              </a:rPr>
              <a:t>Future Class 9–12 science platform for private schools</a:t>
            </a:r>
            <a:endParaRPr lang="en-US" sz="1800" dirty="0"/>
          </a:p>
        </p:txBody>
      </p:sp>
      <p:sp>
        <p:nvSpPr>
          <p:cNvPr id="13" name="Shape 10"/>
          <p:cNvSpPr/>
          <p:nvPr/>
        </p:nvSpPr>
        <p:spPr>
          <a:xfrm>
            <a:off x="4846320" y="3817620"/>
            <a:ext cx="182880" cy="182880"/>
          </a:xfrm>
          <a:prstGeom prst="ellipse">
            <a:avLst/>
          </a:prstGeom>
          <a:solidFill>
            <a:srgbClr val="D97706"/>
          </a:solidFill>
          <a:ln w="12700">
            <a:solidFill>
              <a:srgbClr val="D97706"/>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ctr"/>
          <a:lstStyle/>
          <a:p>
            <a:pPr indent="0" marL="0">
              <a:buNone/>
            </a:pPr>
            <a:r>
              <a:rPr lang="en-US" sz="1200" b="1" spc="150" kern="0" dirty="0">
                <a:solidFill>
                  <a:srgbClr val="B45309"/>
                </a:solidFill>
                <a:latin typeface="Archivo" pitchFamily="34" charset="0"/>
                <a:ea typeface="Archivo" pitchFamily="34" charset="-122"/>
                <a:cs typeface="Archivo" pitchFamily="34" charset="-120"/>
              </a:rPr>
              <a:t>THE ASK</a:t>
            </a:r>
            <a:endParaRPr lang="en-US" sz="1200" dirty="0"/>
          </a:p>
        </p:txBody>
      </p:sp>
      <p:sp>
        <p:nvSpPr>
          <p:cNvPr id="3" name="Text 0"/>
          <p:cNvSpPr/>
          <p:nvPr>
            <p:ph idx="100" type="title" hasCustomPrompt="1"/>
          </p:nvPr>
        </p:nvSpPr>
        <p:spPr>
          <a:xfrm>
            <a:off x="548640" y="868680"/>
            <a:ext cx="8046720" cy="960120"/>
          </a:xfrm>
          <a:prstGeom prst="rect">
            <a:avLst/>
          </a:prstGeom>
          <a:noFill/>
          <a:ln/>
        </p:spPr>
        <p:txBody>
          <a:bodyPr wrap="square" lIns="0" tIns="0" rIns="0" bIns="0" rtlCol="0" anchor="t"/>
          <a:lstStyle/>
          <a:p>
            <a:pPr algn="l" indent="0" marL="0">
              <a:buNone/>
            </a:pPr>
            <a:r>
              <a:rPr lang="en-US" sz="2800" b="1" dirty="0">
                <a:solidFill>
                  <a:srgbClr val="18181B"/>
                </a:solidFill>
                <a:latin typeface="Archivo" pitchFamily="34" charset="0"/>
                <a:ea typeface="Archivo" pitchFamily="34" charset="-122"/>
                <a:cs typeface="Archivo" pitchFamily="34" charset="-120"/>
              </a:rPr>
              <a:t>We are looking for:</a:t>
            </a:r>
            <a:endParaRPr lang="en-US" sz="2800" dirty="0"/>
          </a:p>
        </p:txBody>
      </p:sp>
      <p:pic>
        <p:nvPicPr>
          <p:cNvPr id="4" name="Image 0" descr="C:\Users\This PC\AppData\Local\Temp\claude\D--simvaya\643cd93a-12cb-4cf0-bf47-49e6c5ab18c5\scratchpad\deck\logo.png">    </p:cNvPr>
          <p:cNvPicPr>
            <a:picLocks noChangeAspect="1"/>
          </p:cNvPicPr>
          <p:nvPr/>
        </p:nvPicPr>
        <p:blipFill>
          <a:blip r:embed="rId1"/>
          <a:stretch>
            <a:fillRect/>
          </a:stretch>
        </p:blipFill>
        <p:spPr>
          <a:xfrm>
            <a:off x="7269480" y="310896"/>
            <a:ext cx="274320" cy="274320"/>
          </a:xfrm>
          <a:prstGeom prst="rect">
            <a:avLst/>
          </a:prstGeom>
        </p:spPr>
      </p:pic>
      <p:sp>
        <p:nvSpPr>
          <p:cNvPr id="5" name="Text 2"/>
          <p:cNvSpPr txBox="1"/>
          <p:nvPr/>
        </p:nvSpPr>
        <p:spPr>
          <a:xfrm>
            <a:off x="7616952" y="310896"/>
            <a:ext cx="978408" cy="274320"/>
          </a:xfrm>
          <a:prstGeom prst="rect">
            <a:avLst/>
          </a:prstGeom>
          <a:noFill/>
          <a:ln/>
        </p:spPr>
        <p:txBody>
          <a:bodyPr wrap="square" lIns="0" tIns="0" rIns="0" bIns="0" rtlCol="0" anchor="ctr"/>
          <a:lstStyle/>
          <a:p>
            <a:pPr indent="0" marL="0">
              <a:buNone/>
            </a:pPr>
            <a:r>
              <a:rPr lang="en-US" sz="1200" b="1" dirty="0">
                <a:solidFill>
                  <a:srgbClr val="18181B"/>
                </a:solidFill>
                <a:latin typeface="Archivo" pitchFamily="34" charset="0"/>
                <a:ea typeface="Archivo" pitchFamily="34" charset="-122"/>
                <a:cs typeface="Archivo" pitchFamily="34" charset="-120"/>
              </a:rPr>
              <a:t>Simvaya</a:t>
            </a:r>
            <a:endParaRPr lang="en-US" sz="1200" dirty="0"/>
          </a:p>
        </p:txBody>
      </p:sp>
      <p:sp>
        <p:nvSpPr>
          <p:cNvPr id="6" name="Text 3"/>
          <p:cNvSpPr txBox="1"/>
          <p:nvPr/>
        </p:nvSpPr>
        <p:spPr>
          <a:xfrm>
            <a:off x="548640" y="2011680"/>
            <a:ext cx="3931920" cy="777240"/>
          </a:xfrm>
          <a:prstGeom prst="roundRect">
            <a:avLst>
              <a:gd name="adj" fmla="val 11765"/>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Pilot colleges and faculty partners</a:t>
            </a:r>
            <a:endParaRPr lang="en-US" sz="1600" dirty="0"/>
          </a:p>
        </p:txBody>
      </p:sp>
      <p:sp>
        <p:nvSpPr>
          <p:cNvPr id="7" name="Shape 4"/>
          <p:cNvSpPr/>
          <p:nvPr/>
        </p:nvSpPr>
        <p:spPr>
          <a:xfrm>
            <a:off x="731520" y="2308860"/>
            <a:ext cx="182880" cy="182880"/>
          </a:xfrm>
          <a:prstGeom prst="ellipse">
            <a:avLst/>
          </a:prstGeom>
          <a:solidFill>
            <a:srgbClr val="D97706"/>
          </a:solidFill>
          <a:ln w="12700">
            <a:solidFill>
              <a:srgbClr val="D97706"/>
            </a:solidFill>
            <a:prstDash val="solid"/>
          </a:ln>
        </p:spPr>
      </p:sp>
      <p:sp>
        <p:nvSpPr>
          <p:cNvPr id="8" name="Text 5"/>
          <p:cNvSpPr txBox="1"/>
          <p:nvPr/>
        </p:nvSpPr>
        <p:spPr>
          <a:xfrm>
            <a:off x="4663440" y="2011680"/>
            <a:ext cx="3931920" cy="777240"/>
          </a:xfrm>
          <a:prstGeom prst="roundRect">
            <a:avLst>
              <a:gd name="adj" fmla="val 11765"/>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Lab-equipment and edtech partners</a:t>
            </a:r>
            <a:endParaRPr lang="en-US" sz="1600" dirty="0"/>
          </a:p>
        </p:txBody>
      </p:sp>
      <p:sp>
        <p:nvSpPr>
          <p:cNvPr id="9" name="Shape 6"/>
          <p:cNvSpPr/>
          <p:nvPr/>
        </p:nvSpPr>
        <p:spPr>
          <a:xfrm>
            <a:off x="4846320" y="2308860"/>
            <a:ext cx="182880" cy="182880"/>
          </a:xfrm>
          <a:prstGeom prst="ellipse">
            <a:avLst/>
          </a:prstGeom>
          <a:solidFill>
            <a:srgbClr val="D97706"/>
          </a:solidFill>
          <a:ln w="12700">
            <a:solidFill>
              <a:srgbClr val="D97706"/>
            </a:solidFill>
            <a:prstDash val="solid"/>
          </a:ln>
        </p:spPr>
      </p:sp>
      <p:sp>
        <p:nvSpPr>
          <p:cNvPr id="10" name="Text 7"/>
          <p:cNvSpPr txBox="1"/>
          <p:nvPr/>
        </p:nvSpPr>
        <p:spPr>
          <a:xfrm>
            <a:off x="548640" y="2898648"/>
            <a:ext cx="3931920" cy="777240"/>
          </a:xfrm>
          <a:prstGeom prst="roundRect">
            <a:avLst>
              <a:gd name="adj" fmla="val 11765"/>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Mentors who can help validate curriculum, procurement and GTM</a:t>
            </a:r>
            <a:endParaRPr lang="en-US" sz="1600" dirty="0"/>
          </a:p>
        </p:txBody>
      </p:sp>
      <p:sp>
        <p:nvSpPr>
          <p:cNvPr id="11" name="Shape 8"/>
          <p:cNvSpPr/>
          <p:nvPr/>
        </p:nvSpPr>
        <p:spPr>
          <a:xfrm>
            <a:off x="731520" y="3195828"/>
            <a:ext cx="182880" cy="182880"/>
          </a:xfrm>
          <a:prstGeom prst="ellipse">
            <a:avLst/>
          </a:prstGeom>
          <a:solidFill>
            <a:srgbClr val="D97706"/>
          </a:solidFill>
          <a:ln w="12700">
            <a:solidFill>
              <a:srgbClr val="D97706"/>
            </a:solidFill>
            <a:prstDash val="solid"/>
          </a:ln>
        </p:spPr>
      </p:sp>
      <p:sp>
        <p:nvSpPr>
          <p:cNvPr id="12" name="Text 9"/>
          <p:cNvSpPr txBox="1"/>
          <p:nvPr/>
        </p:nvSpPr>
        <p:spPr>
          <a:xfrm>
            <a:off x="4663440" y="2898648"/>
            <a:ext cx="3931920" cy="777240"/>
          </a:xfrm>
          <a:prstGeom prst="roundRect">
            <a:avLst>
              <a:gd name="adj" fmla="val 11765"/>
            </a:avLst>
          </a:prstGeom>
          <a:solidFill>
            <a:srgbClr val="FFFFFF"/>
          </a:solidFill>
          <a:ln w="9525">
            <a:solidFill>
              <a:srgbClr val="E8E2D6"/>
            </a:solidFill>
          </a:ln>
          <a:effectLst>
            <a:outerShdw sx="100000" sy="100000" kx="0" ky="0" algn="bl" rotWithShape="0" blurRad="76200" dist="25400" dir="5400000">
              <a:srgbClr val="18181B">
                <a:alpha val="8000"/>
              </a:srgbClr>
            </a:outerShdw>
          </a:effectLst>
        </p:spPr>
        <p:txBody>
          <a:bodyPr wrap="square" lIns="558800" tIns="76200" rIns="177800" bIns="76200" rtlCol="0" anchor="ctr"/>
          <a:lstStyle/>
          <a:p>
            <a:pPr algn="l" indent="0" marL="0">
              <a:buNone/>
            </a:pPr>
            <a:r>
              <a:rPr lang="en-US" sz="1600" dirty="0">
                <a:solidFill>
                  <a:srgbClr val="18181B"/>
                </a:solidFill>
                <a:latin typeface="Archivo" pitchFamily="34" charset="0"/>
                <a:ea typeface="Archivo" pitchFamily="34" charset="-122"/>
                <a:cs typeface="Archivo" pitchFamily="34" charset="-120"/>
              </a:rPr>
              <a:t>Early capital to build 5–8 complete experiments in one department</a:t>
            </a:r>
            <a:endParaRPr lang="en-US" sz="1600" dirty="0"/>
          </a:p>
        </p:txBody>
      </p:sp>
      <p:sp>
        <p:nvSpPr>
          <p:cNvPr id="13" name="Shape 10"/>
          <p:cNvSpPr/>
          <p:nvPr/>
        </p:nvSpPr>
        <p:spPr>
          <a:xfrm>
            <a:off x="4846320" y="3195828"/>
            <a:ext cx="182880" cy="182880"/>
          </a:xfrm>
          <a:prstGeom prst="ellipse">
            <a:avLst/>
          </a:prstGeom>
          <a:solidFill>
            <a:srgbClr val="D97706"/>
          </a:solidFill>
          <a:ln w="12700">
            <a:solidFill>
              <a:srgbClr val="D97706"/>
            </a:solidFill>
            <a:prstDash val="solid"/>
          </a:ln>
        </p:spPr>
      </p:sp>
      <p:sp>
        <p:nvSpPr>
          <p:cNvPr id="14" name="Text 11"/>
          <p:cNvSpPr txBox="1"/>
          <p:nvPr/>
        </p:nvSpPr>
        <p:spPr>
          <a:xfrm>
            <a:off x="548640" y="3931920"/>
            <a:ext cx="8046720" cy="822960"/>
          </a:xfrm>
          <a:prstGeom prst="roundRect">
            <a:avLst>
              <a:gd name="adj" fmla="val 11111"/>
            </a:avLst>
          </a:prstGeom>
          <a:solidFill>
            <a:srgbClr val="FEF3C7"/>
          </a:solidFill>
          <a:ln w="9525">
            <a:solidFill>
              <a:srgbClr val="E8E2D6"/>
            </a:solidFill>
          </a:ln>
        </p:spPr>
        <p:txBody>
          <a:bodyPr wrap="square" lIns="228600" tIns="101600" rIns="228600" bIns="101600" rtlCol="0" anchor="ctr"/>
          <a:lstStyle/>
          <a:p>
            <a:pPr algn="l" indent="0" marL="0">
              <a:buNone/>
            </a:pPr>
            <a:r>
              <a:rPr lang="en-US" sz="1800" b="1" dirty="0">
                <a:solidFill>
                  <a:srgbClr val="92400E"/>
                </a:solidFill>
                <a:latin typeface="Archivo" pitchFamily="34" charset="0"/>
                <a:ea typeface="Archivo" pitchFamily="34" charset="-122"/>
                <a:cs typeface="Archivo" pitchFamily="34" charset="-120"/>
              </a:rPr>
              <a:t>“We are not replacing the physical lab. We are making every physical lab hour count.”</a:t>
            </a:r>
            <a:endParaRPr lang="en-US" sz="1800" dirty="0"/>
          </a:p>
        </p:txBody>
      </p:sp>
    </p:spTree>
  </p:cSld>
  <p:clrMapOvr>
    <a:masterClrMapping/>
  </p:clrMapOvr>
</p:sld>
</file>

<file path=ppt/theme/theme1.xml><?xml version="1.0" encoding="utf-8"?>
<a:theme xmlns:a="http://schemas.openxmlformats.org/drawingml/2006/main" name="Simvaya Light">
  <a:themeElements>
    <a:clrScheme name="Simvaya Light">
      <a:dk1>
        <a:srgbClr val="18181B"/>
      </a:dk1>
      <a:lt1>
        <a:srgbClr val="FFFFFF"/>
      </a:lt1>
      <a:dk2>
        <a:srgbClr val="52525B"/>
      </a:dk2>
      <a:lt2>
        <a:srgbClr val="FFFBF5"/>
      </a:lt2>
      <a:accent1>
        <a:srgbClr val="D97706"/>
      </a:accent1>
      <a:accent2>
        <a:srgbClr val="FBBF24"/>
      </a:accent2>
      <a:accent3>
        <a:srgbClr val="B45309"/>
      </a:accent3>
      <a:accent4>
        <a:srgbClr val="92400E"/>
      </a:accent4>
      <a:accent5>
        <a:srgbClr val="FEF3C7"/>
      </a:accent5>
      <a:accent6>
        <a:srgbClr val="E8E2D6"/>
      </a:accent6>
      <a:hlink>
        <a:srgbClr val="B45309"/>
      </a:hlink>
      <a:folHlink>
        <a:srgbClr val="92400E"/>
      </a:folHlink>
    </a:clrScheme>
    <a:fontScheme name="Simvaya Light">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chiv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Simvaya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Simvaya Mentor Deck (Round 1)</dc:title>
  <dc:subject>PptxGenJS Presentation</dc:subject>
  <dc:creator>Simvaya</dc:creator>
  <cp:lastModifiedBy>Simvaya</cp:lastModifiedBy>
  <cp:revision>1</cp:revision>
  <dcterms:created xsi:type="dcterms:W3CDTF">2026-10-24T12:19:30Z</dcterms:created>
  <dcterms:modified xsi:type="dcterms:W3CDTF">2026-10-24T12:19:30Z</dcterms:modified>
</cp:coreProperties>
</file>